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"/>
            <a:ext cx="27432" cy="27432"/>
          </a:xfrm>
          <a:prstGeom prst="ellipse">
            <a:avLst/>
          </a:prstGeom>
          <a:solidFill>
            <a:srgbClr val="DDD4C4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320040"/>
            <a:ext cx="27432" cy="27432"/>
          </a:xfrm>
          <a:prstGeom prst="ellipse">
            <a:avLst/>
          </a:prstGeom>
          <a:solidFill>
            <a:srgbClr val="DDD4C4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320040"/>
            <a:ext cx="27432" cy="27432"/>
          </a:xfrm>
          <a:prstGeom prst="ellipse">
            <a:avLst/>
          </a:prstGeom>
          <a:solidFill>
            <a:srgbClr val="DDD4C4"/>
          </a:solidFill>
          <a:ln/>
        </p:spPr>
      </p:sp>
      <p:sp>
        <p:nvSpPr>
          <p:cNvPr id="5" name="Shape 3"/>
          <p:cNvSpPr/>
          <p:nvPr/>
        </p:nvSpPr>
        <p:spPr>
          <a:xfrm>
            <a:off x="2880360" y="320040"/>
            <a:ext cx="27432" cy="27432"/>
          </a:xfrm>
          <a:prstGeom prst="ellipse">
            <a:avLst/>
          </a:prstGeom>
          <a:solidFill>
            <a:srgbClr val="DDD4C4"/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320040"/>
            <a:ext cx="27432" cy="27432"/>
          </a:xfrm>
          <a:prstGeom prst="ellipse">
            <a:avLst/>
          </a:prstGeom>
          <a:solidFill>
            <a:srgbClr val="DDD4C4"/>
          </a:solidFill>
          <a:ln/>
        </p:spPr>
      </p:sp>
      <p:sp>
        <p:nvSpPr>
          <p:cNvPr id="7" name="Shape 5"/>
          <p:cNvSpPr/>
          <p:nvPr/>
        </p:nvSpPr>
        <p:spPr>
          <a:xfrm>
            <a:off x="4617720" y="320040"/>
            <a:ext cx="27432" cy="27432"/>
          </a:xfrm>
          <a:prstGeom prst="ellipse">
            <a:avLst/>
          </a:prstGeom>
          <a:solidFill>
            <a:srgbClr val="DDD4C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0" y="320040"/>
            <a:ext cx="27432" cy="27432"/>
          </a:xfrm>
          <a:prstGeom prst="ellipse">
            <a:avLst/>
          </a:prstGeom>
          <a:solidFill>
            <a:srgbClr val="DDD4C4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320040"/>
            <a:ext cx="27432" cy="27432"/>
          </a:xfrm>
          <a:prstGeom prst="ellipse">
            <a:avLst/>
          </a:prstGeom>
          <a:solidFill>
            <a:srgbClr val="DDD4C4"/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0" y="320040"/>
            <a:ext cx="27432" cy="27432"/>
          </a:xfrm>
          <a:prstGeom prst="ellipse">
            <a:avLst/>
          </a:prstGeom>
          <a:solidFill>
            <a:srgbClr val="DDD4C4"/>
          </a:solidFill>
          <a:ln/>
        </p:spPr>
      </p:sp>
      <p:sp>
        <p:nvSpPr>
          <p:cNvPr id="11" name="Shape 9"/>
          <p:cNvSpPr/>
          <p:nvPr/>
        </p:nvSpPr>
        <p:spPr>
          <a:xfrm>
            <a:off x="8092440" y="320040"/>
            <a:ext cx="27432" cy="27432"/>
          </a:xfrm>
          <a:prstGeom prst="ellipse">
            <a:avLst/>
          </a:prstGeom>
          <a:solidFill>
            <a:srgbClr val="DDD4C4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0" y="320040"/>
            <a:ext cx="27432" cy="27432"/>
          </a:xfrm>
          <a:prstGeom prst="ellipse">
            <a:avLst/>
          </a:prstGeom>
          <a:solidFill>
            <a:srgbClr val="DDD4C4"/>
          </a:solidFill>
          <a:ln/>
        </p:spPr>
      </p:sp>
      <p:sp>
        <p:nvSpPr>
          <p:cNvPr id="13" name="Shape 11"/>
          <p:cNvSpPr/>
          <p:nvPr/>
        </p:nvSpPr>
        <p:spPr>
          <a:xfrm>
            <a:off x="9829800" y="320040"/>
            <a:ext cx="27432" cy="27432"/>
          </a:xfrm>
          <a:prstGeom prst="ellipse">
            <a:avLst/>
          </a:prstGeom>
          <a:solidFill>
            <a:srgbClr val="DDD4C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320040"/>
            <a:ext cx="27432" cy="27432"/>
          </a:xfrm>
          <a:prstGeom prst="ellipse">
            <a:avLst/>
          </a:prstGeom>
          <a:solidFill>
            <a:srgbClr val="DDD4C4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67160" y="320040"/>
            <a:ext cx="27432" cy="27432"/>
          </a:xfrm>
          <a:prstGeom prst="ellipse">
            <a:avLst/>
          </a:prstGeom>
          <a:solidFill>
            <a:srgbClr val="DDD4C4"/>
          </a:solidFill>
          <a:ln/>
        </p:spPr>
      </p:sp>
      <p:sp>
        <p:nvSpPr>
          <p:cNvPr id="16" name="Shape 14"/>
          <p:cNvSpPr/>
          <p:nvPr/>
        </p:nvSpPr>
        <p:spPr>
          <a:xfrm>
            <a:off x="5394960" y="1051560"/>
            <a:ext cx="1417320" cy="1417320"/>
          </a:xfrm>
          <a:prstGeom prst="hexagon">
            <a:avLst/>
          </a:prstGeom>
          <a:ln w="31750">
            <a:solidFill>
              <a:srgbClr val="BB4E2E"/>
            </a:solidFill>
            <a:prstDash val="solid"/>
          </a:ln>
        </p:spPr>
      </p:sp>
      <p:pic>
        <p:nvPicPr>
          <p:cNvPr id="17" name="Image 0" descr="assets/icon_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417320"/>
            <a:ext cx="658368" cy="6583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0" y="27432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NEUROSYNC</a:t>
            </a:r>
            <a:endParaRPr lang="en-US" sz="6000" dirty="0"/>
          </a:p>
        </p:txBody>
      </p:sp>
      <p:sp>
        <p:nvSpPr>
          <p:cNvPr id="19" name="Text 16"/>
          <p:cNvSpPr/>
          <p:nvPr/>
        </p:nvSpPr>
        <p:spPr>
          <a:xfrm>
            <a:off x="1975104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for the equipment that can’t afford to fail.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394960" y="4434840"/>
            <a:ext cx="1417320" cy="0"/>
          </a:xfrm>
          <a:prstGeom prst="line">
            <a:avLst/>
          </a:prstGeom>
          <a:noFill/>
          <a:ln w="19050">
            <a:solidFill>
              <a:srgbClr val="BB4E2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0" y="47091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 •  ON-DEVICE INFERENCE  •  ZERO CLOUD DEPENDENCY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hatGPT_Image_Jul_19__2026__02_32_24_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502920"/>
            <a:ext cx="5212080" cy="5349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5212080" cy="5349240"/>
          </a:xfrm>
          <a:prstGeom prst="rect">
            <a:avLst/>
          </a:prstGeom>
          <a:ln w="12700">
            <a:solidFill>
              <a:srgbClr val="DDD4C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12648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WE’VE SEEN THIS BEFORE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126480" y="10972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major industrial disaster of the last 50 years shared one thing in common.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126480" y="25146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was measurable — pressure, vibration, gas, heat — long before it became visible. Nobody was watching closely enough, in real time, to act.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126480" y="37033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3886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DEEPWATER HORIZON · APRIL 20, 2010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0" y="42793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400800" y="4828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workers killed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183880" y="42793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134M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183880" y="4828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Gallons of oil spilled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966960" y="42793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$65B+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9966960" y="4828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to BP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undetected mechanical failure on the blowout preventer — a condition sensors could have flagged — triggered the worst offshore oil spill in U.S. history.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725912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NOT KNOWING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&amp; gas still runs on hindsight, not foresight.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 of four operators still use reactive or time-based maintenance — fixing equipment after it breaks, or on a fixed calendar that ignores actual condition.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79192" cy="3246120"/>
          </a:xfrm>
          <a:prstGeom prst="roundRect">
            <a:avLst>
              <a:gd name="adj" fmla="val 2730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606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7" name="Image 0" descr="assets/icon_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73405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8328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days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04672" y="4069080"/>
            <a:ext cx="2167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unplanned downtime per year on the average offshore platform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92424" y="2331720"/>
            <a:ext cx="2679192" cy="3246120"/>
          </a:xfrm>
          <a:prstGeom prst="roundRect">
            <a:avLst>
              <a:gd name="adj" fmla="val 2730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48456" y="2606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12" name="Image 1" descr="assets/icon_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73405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38328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$149M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648456" y="4069080"/>
            <a:ext cx="2167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 downtime loss per site — up 76% since 2021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36208" y="2331720"/>
            <a:ext cx="2679192" cy="3246120"/>
          </a:xfrm>
          <a:prstGeom prst="roundRect">
            <a:avLst>
              <a:gd name="adj" fmla="val 2730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92240" y="2606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17" name="Image 2" descr="assets/icon_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73405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38328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~$500K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6492240" y="4069080"/>
            <a:ext cx="2167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for every single hour of unplanned downtime today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79992" y="2331720"/>
            <a:ext cx="2679192" cy="3246120"/>
          </a:xfrm>
          <a:prstGeom prst="roundRect">
            <a:avLst>
              <a:gd name="adj" fmla="val 2730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336024" y="2606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22" name="Image 3" descr="assets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73405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36024" y="338328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$2.5T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9336024" y="4069080"/>
            <a:ext cx="2167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global cost of corrosion-driven failures each year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5806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Kimberlite Research; Innovapptive; Birlasoft; MaxGrip industry analysis, 2024–2026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0725912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NeuroSync watches, thinks, and acts — on the equipment itself.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70432" cy="1554480"/>
          </a:xfrm>
          <a:prstGeom prst="roundRect">
            <a:avLst>
              <a:gd name="adj" fmla="val 6250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5" name="Image 0" descr="assets/icon_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68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299923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3504" y="3401568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847088" y="2286000"/>
            <a:ext cx="1170432" cy="1554480"/>
          </a:xfrm>
          <a:prstGeom prst="roundRect">
            <a:avLst>
              <a:gd name="adj" fmla="val 6250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9" name="Image 1" descr="assets/icon_wi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24688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01952" y="299923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901952" y="3401568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MQ2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145536" y="2286000"/>
            <a:ext cx="1170432" cy="1554480"/>
          </a:xfrm>
          <a:prstGeom prst="roundRect">
            <a:avLst>
              <a:gd name="adj" fmla="val 6250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13" name="Image 2" descr="assets/icon_thermome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24688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00400" y="299923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200400" y="3401568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443984" y="2286000"/>
            <a:ext cx="1170432" cy="1554480"/>
          </a:xfrm>
          <a:prstGeom prst="roundRect">
            <a:avLst>
              <a:gd name="adj" fmla="val 6250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17" name="Image 3" descr="assets/icon_drop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4688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498848" y="299923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498848" y="3401568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probe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5797296" y="2999232"/>
            <a:ext cx="274320" cy="128016"/>
          </a:xfrm>
          <a:prstGeom prst="rightArrow">
            <a:avLst/>
          </a:prstGeom>
          <a:solidFill>
            <a:srgbClr val="BB4E2E"/>
          </a:solidFill>
          <a:ln/>
        </p:spPr>
      </p:sp>
      <p:sp>
        <p:nvSpPr>
          <p:cNvPr id="21" name="Shape 15"/>
          <p:cNvSpPr/>
          <p:nvPr/>
        </p:nvSpPr>
        <p:spPr>
          <a:xfrm>
            <a:off x="6144768" y="21031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BB4E2E"/>
          </a:solidFill>
          <a:ln/>
        </p:spPr>
      </p:sp>
      <p:pic>
        <p:nvPicPr>
          <p:cNvPr id="22" name="Image 4" descr="assets/icon_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1132" y="2267712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17920" y="278892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Model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263640" y="3182112"/>
            <a:ext cx="1453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B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100% on-device — no cloud, no connectivity required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7909560" y="2999232"/>
            <a:ext cx="274320" cy="128016"/>
          </a:xfrm>
          <a:prstGeom prst="rightArrow">
            <a:avLst/>
          </a:prstGeom>
          <a:solidFill>
            <a:srgbClr val="BB4E2E"/>
          </a:solidFill>
          <a:ln/>
        </p:spPr>
      </p:sp>
      <p:sp>
        <p:nvSpPr>
          <p:cNvPr id="26" name="Shape 19"/>
          <p:cNvSpPr/>
          <p:nvPr/>
        </p:nvSpPr>
        <p:spPr>
          <a:xfrm>
            <a:off x="8311896" y="2286000"/>
            <a:ext cx="1234440" cy="1554480"/>
          </a:xfrm>
          <a:prstGeom prst="roundRect">
            <a:avLst>
              <a:gd name="adj" fmla="val 5926"/>
            </a:avLst>
          </a:prstGeom>
          <a:solidFill>
            <a:srgbClr val="F2ECE1"/>
          </a:solidFill>
          <a:ln w="19050">
            <a:solidFill>
              <a:srgbClr val="C68A2E"/>
            </a:solidFill>
            <a:prstDash val="solid"/>
          </a:ln>
        </p:spPr>
      </p:sp>
      <p:pic>
        <p:nvPicPr>
          <p:cNvPr id="27" name="Image 5" descr="assets/icon_be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6236" y="246888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366760" y="299923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Alert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8366760" y="3337560"/>
            <a:ext cx="1124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explainable score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9619488" y="2999232"/>
            <a:ext cx="256032" cy="128016"/>
          </a:xfrm>
          <a:prstGeom prst="rightArrow">
            <a:avLst/>
          </a:prstGeom>
          <a:solidFill>
            <a:srgbClr val="BB4E2E"/>
          </a:solidFill>
          <a:ln/>
        </p:spPr>
      </p:sp>
      <p:sp>
        <p:nvSpPr>
          <p:cNvPr id="31" name="Shape 23"/>
          <p:cNvSpPr/>
          <p:nvPr/>
        </p:nvSpPr>
        <p:spPr>
          <a:xfrm>
            <a:off x="10003536" y="228600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32" name="Image 6" descr="assets/icon_messa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5036" y="246888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0058400" y="2980944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2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Manual-Control Chatbot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10058400" y="3438144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asks, confirms, overrides</a:t>
            </a:r>
            <a:endParaRPr lang="en-US" sz="850" dirty="0"/>
          </a:p>
        </p:txBody>
      </p:sp>
      <p:sp>
        <p:nvSpPr>
          <p:cNvPr id="35" name="Shape 26"/>
          <p:cNvSpPr/>
          <p:nvPr/>
        </p:nvSpPr>
        <p:spPr>
          <a:xfrm flipV="1">
            <a:off x="6990588" y="3977640"/>
            <a:ext cx="3767328" cy="365760"/>
          </a:xfrm>
          <a:prstGeom prst="bentConnector3">
            <a:avLst/>
          </a:prstGeom>
          <a:noFill/>
          <a:ln w="15875">
            <a:solidFill>
              <a:srgbClr val="5B5346"/>
            </a:solidFill>
            <a:prstDash val="dash"/>
            <a:headEnd type="triangle"/>
            <a:tailEnd type="triangle"/>
          </a:ln>
        </p:spPr>
      </p:sp>
      <p:pic>
        <p:nvPicPr>
          <p:cNvPr id="36" name="Image 7" descr="assets/icon_refres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948" y="4325112"/>
            <a:ext cx="292608" cy="29260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779008" y="4636008"/>
            <a:ext cx="6099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loop — every confirmed outcome retrains the on-device model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Arduino UNO Q — sensors, edge inference, and alerting run on under $80 of hardware per node.</a:t>
            </a:r>
            <a:endParaRPr lang="en-US" sz="1150" dirty="0"/>
          </a:p>
        </p:txBody>
      </p:sp>
      <p:sp>
        <p:nvSpPr>
          <p:cNvPr id="39" name="Text 29"/>
          <p:cNvSpPr/>
          <p:nvPr/>
        </p:nvSpPr>
        <p:spPr>
          <a:xfrm>
            <a:off x="10725912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tiers. One autonomous decision chain.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raw sensor voltage to a written emergency protocol — zero cloud dependency at every step.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3864" cy="4617720"/>
          </a:xfrm>
          <a:prstGeom prst="roundRect">
            <a:avLst>
              <a:gd name="adj" fmla="val 2362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29384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7" name="Image 0" descr="assets/icon_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04825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4963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EXTREME EDGE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04672" y="273405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On-Sensor Decision Tree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04672" y="30998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Node · STM32 / Arduino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04672" y="3410712"/>
            <a:ext cx="29718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DD4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34107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6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· C++ Decision Trees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04672" y="3831336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raw MPU6050, MQ2, and DS18B20 signals directly on the microcontroller — zero delay, zero dependency.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4672" y="4800600"/>
            <a:ext cx="2971800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BB4E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0976" y="4928616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950976" y="5202936"/>
            <a:ext cx="26791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Subtracts gravity from the raw signal to isolate pure vibration, producing an instant Risk Index — light enough to run on the smallest microcontrollers.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059936" y="3909060"/>
            <a:ext cx="265176" cy="182880"/>
          </a:xfrm>
          <a:prstGeom prst="rightArrow">
            <a:avLst/>
          </a:prstGeom>
          <a:solidFill>
            <a:srgbClr val="BB4E2E"/>
          </a:solidFill>
          <a:ln/>
        </p:spPr>
      </p:sp>
      <p:sp>
        <p:nvSpPr>
          <p:cNvPr id="18" name="Shape 15"/>
          <p:cNvSpPr/>
          <p:nvPr/>
        </p:nvSpPr>
        <p:spPr>
          <a:xfrm>
            <a:off x="4352544" y="1691640"/>
            <a:ext cx="3483864" cy="4617720"/>
          </a:xfrm>
          <a:prstGeom prst="roundRect">
            <a:avLst>
              <a:gd name="adj" fmla="val 2362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08576" y="1929384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20" name="Image 1" descr="assets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048256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608576" y="24963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HEAVY EDGE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4608576" y="273405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ML Classifier</a:t>
            </a:r>
            <a:endParaRPr lang="en-US" sz="1550" dirty="0"/>
          </a:p>
        </p:txBody>
      </p:sp>
      <p:sp>
        <p:nvSpPr>
          <p:cNvPr id="23" name="Text 19"/>
          <p:cNvSpPr/>
          <p:nvPr/>
        </p:nvSpPr>
        <p:spPr>
          <a:xfrm>
            <a:off x="4608576" y="30998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 Node · Qualcomm Snapdragon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608576" y="3410712"/>
            <a:ext cx="29718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DD4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608576" y="34107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6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· Random Forest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608576" y="3831336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serial data feeds a Python backend on-device, running a Random Forest model compiled to ONNX on the Snapdragon Hexagon DSP.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608576" y="4800600"/>
            <a:ext cx="2971800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BB4E2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54880" y="4928616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4754880" y="5202936"/>
            <a:ext cx="26791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each machine’s own resting noise (±2.0) and tunes its own safe threshold (e.g. 2.5). A +15.0 spike past that limit is classified instantly — bearing wear vs. gas leak.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863840" y="3909060"/>
            <a:ext cx="265176" cy="182880"/>
          </a:xfrm>
          <a:prstGeom prst="rightArrow">
            <a:avLst/>
          </a:prstGeom>
          <a:solidFill>
            <a:srgbClr val="BB4E2E"/>
          </a:solidFill>
          <a:ln/>
        </p:spPr>
      </p:sp>
      <p:sp>
        <p:nvSpPr>
          <p:cNvPr id="31" name="Shape 27"/>
          <p:cNvSpPr/>
          <p:nvPr/>
        </p:nvSpPr>
        <p:spPr>
          <a:xfrm>
            <a:off x="8156448" y="1691640"/>
            <a:ext cx="3483864" cy="4617720"/>
          </a:xfrm>
          <a:prstGeom prst="roundRect">
            <a:avLst>
              <a:gd name="adj" fmla="val 2362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412480" y="1929384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33" name="Image 2" descr="assets/icon_mes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048256"/>
            <a:ext cx="237744" cy="23774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412480" y="24963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GENERATIVE COPILOT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8412480" y="273405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LLM Response</a:t>
            </a:r>
            <a:endParaRPr lang="en-US" sz="1550" dirty="0"/>
          </a:p>
        </p:txBody>
      </p:sp>
      <p:sp>
        <p:nvSpPr>
          <p:cNvPr id="36" name="Text 31"/>
          <p:cNvSpPr/>
          <p:nvPr/>
        </p:nvSpPr>
        <p:spPr>
          <a:xfrm>
            <a:off x="8412480" y="30998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PC · Snapdragon X Elite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8412480" y="3410712"/>
            <a:ext cx="29718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DD4C4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412480" y="34107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6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Gemma 2B/7B · Ollama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8412480" y="3831336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Level 2 confirms an anomaly, this tier activates — no internet connection needed at any point.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8412480" y="4800600"/>
            <a:ext cx="2971800" cy="13441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BB4E2E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558784" y="4928616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8558784" y="5202936"/>
            <a:ext cx="26791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5GB Gemma model runs fully on-device, reading live vibration, temp, and gas telemetry as its prompt to write a 3-step autonomous Emergency Maintenance Protocol in seconds.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10725912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UNDER THE HOOD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Field-tested hardware. A control room in your pocket.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4434840"/>
          </a:xfrm>
          <a:prstGeom prst="roundRect">
            <a:avLst>
              <a:gd name="adj" fmla="val 1649"/>
            </a:avLst>
          </a:prstGeom>
          <a:solidFill>
            <a:srgbClr val="24211B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5" name="Image 0" descr="/mnt/user-data/uploads/NeuroSync_Tinkercad_Sty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764792"/>
            <a:ext cx="5980176" cy="41056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600200"/>
            <a:ext cx="4572000" cy="2084832"/>
          </a:xfrm>
          <a:prstGeom prst="roundRect">
            <a:avLst>
              <a:gd name="adj" fmla="val 3509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96912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296912" y="214884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risk ranking, live, per asset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connect to the Arduino UNO Q over local Wi-Fi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Offline-ready — plant data never leaves the site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040880" y="3840480"/>
            <a:ext cx="4572000" cy="2194560"/>
          </a:xfrm>
          <a:prstGeom prst="roundRect">
            <a:avLst>
              <a:gd name="adj" fmla="val 3333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96912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PER NODE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296912" y="4389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68512" y="438912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Q (on-device NPU)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296912" y="47548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68512" y="47548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· gas · temperature · moisture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96912" y="5120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68512" y="512064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$80 in components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296912" y="54864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668512" y="548640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Wi-Fi — no cloud dependency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725912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APP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market moving fast toward what NeuroSync already does.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BB4E2E"/>
          </a:solidFill>
          <a:ln/>
        </p:spPr>
      </p:sp>
      <p:pic>
        <p:nvPicPr>
          <p:cNvPr id="5" name="Image 0" descr="assets/icon_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$15.7B → $96.6B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B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predictive maintenance market, 2026 to 2035 — a 22.4% CAGR.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4251960"/>
            <a:ext cx="3017520" cy="0"/>
          </a:xfrm>
          <a:prstGeom prst="line">
            <a:avLst/>
          </a:prstGeom>
          <a:noFill/>
          <a:ln w="9525">
            <a:solidFill>
              <a:srgbClr val="E7B39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4348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F7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same $864B annual cost of unplanned industrial downtime NeuroSync is built to cut.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1737360"/>
            <a:ext cx="7178040" cy="1234440"/>
          </a:xfrm>
          <a:prstGeom prst="roundRect">
            <a:avLst>
              <a:gd name="adj" fmla="val 5926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061972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12" name="Image 1" descr="asset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9913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874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94–97%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360920" y="18745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failure-prediction accuracy achievable with modern edge-AI condition monitoring, at up to 72 hours’ warning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80560" y="3172968"/>
            <a:ext cx="7178040" cy="1234440"/>
          </a:xfrm>
          <a:prstGeom prst="roundRect">
            <a:avLst>
              <a:gd name="adj" fmla="val 5926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09160" y="3497580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17" name="Image 2" descr="assets/icon_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63474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32120" y="331012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36%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7360920" y="331012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unplanned downtime from data-driven predictive maintenance programs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480560" y="4608576"/>
            <a:ext cx="7178040" cy="1234440"/>
          </a:xfrm>
          <a:prstGeom prst="roundRect">
            <a:avLst>
              <a:gd name="adj" fmla="val 5926"/>
            </a:avLst>
          </a:prstGeom>
          <a:solidFill>
            <a:srgbClr val="F2ECE1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09160" y="4933188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4C4"/>
            </a:solidFill>
            <a:prstDash val="solid"/>
          </a:ln>
        </p:spPr>
      </p:sp>
      <p:pic>
        <p:nvPicPr>
          <p:cNvPr id="22" name="Image 3" descr="assets/icon_doll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507034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4745736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15–40%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7360920" y="4745736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maintenance-cost savings moving from reactive to predictive strategies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6080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Evolvance Market Research; Grand View Research; MarketsandMarkets; U.S. DOE, 2025–2026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0725912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+ IMPACT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777240"/>
            <a:ext cx="1051560" cy="1051560"/>
          </a:xfrm>
          <a:prstGeom prst="hexagon">
            <a:avLst/>
          </a:prstGeom>
          <a:ln w="31750">
            <a:solidFill>
              <a:srgbClr val="BB4E2E"/>
            </a:solidFill>
            <a:prstDash val="solid"/>
          </a:ln>
        </p:spPr>
      </p:sp>
      <p:pic>
        <p:nvPicPr>
          <p:cNvPr id="3" name="Image 0" descr="assets/icon_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0515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4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disaster is measurable today.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737360" y="31546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NeuroSync puts real-time sensing, on-device AI, and a self-learning safety net on every asset that can’t afford to fail — before it becomes tomorrow’s headline.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108960" y="434340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F2ECE1"/>
          </a:solidFill>
          <a:ln w="15875">
            <a:solidFill>
              <a:srgbClr val="BB4E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83280" y="45262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4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raising to take NeuroSync from field-tested prototype to fleet-wide deployment.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TALK  ·  hello@neurosync.tech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25912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2026-07-19T06:51:01Z</dcterms:created>
  <dcterms:modified xsi:type="dcterms:W3CDTF">2026-07-19T06:51:01Z</dcterms:modified>
</cp:coreProperties>
</file>